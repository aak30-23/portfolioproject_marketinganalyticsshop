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62" r:id="rId4"/>
    <p:sldId id="257" r:id="rId5"/>
    <p:sldId id="263" r:id="rId6"/>
    <p:sldId id="258" r:id="rId7"/>
    <p:sldId id="265" r:id="rId8"/>
    <p:sldId id="260" r:id="rId9"/>
    <p:sldId id="266" r:id="rId10"/>
    <p:sldId id="261" r:id="rId11"/>
    <p:sldId id="272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C00"/>
    <a:srgbClr val="E6E6E6"/>
    <a:srgbClr val="F7F7F7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384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51F85F-4D50-450B-A7CD-FB41D10AC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9408654-30C1-4004-BFC4-56CB329BA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781CB8-2C38-43B8-ABDB-DA86DF424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83F9-2D46-4C1E-BBE7-7C9270AF5B54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123306-CD37-40E9-B06A-2932DF2ED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23914B-59A8-4C2C-B59F-A89A004AA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A50C-6B9A-44FF-9DF2-9578C0D0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4430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8090A4-F3B6-4B56-8397-F61224F28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3E639F-9E42-475F-A36E-D7B0B7B8B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6F72C6-E93B-4143-8B77-A3F562F5F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83F9-2D46-4C1E-BBE7-7C9270AF5B54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0899F4-B8AD-4A1A-BBBA-0E0B66038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C69F5C-EDF9-42D7-95D7-D228FA5DC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A50C-6B9A-44FF-9DF2-9578C0D0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028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FEC354-E5AB-4B8E-A567-FEFED876D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EB5BA9-BCB3-469F-9540-B830938E9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FDFC8D-B122-41DE-96F4-B383B256F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83F9-2D46-4C1E-BBE7-7C9270AF5B54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A53A8A-6AAE-4326-8BA9-DC3E97A45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16C527-FE66-47DA-8A13-A98852305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A50C-6B9A-44FF-9DF2-9578C0D0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4736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2EC9AD-94AD-491E-B4DA-8B5404AC9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24ACAE-DC8C-451A-B244-FBE2DBD373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C1E65F-FA62-4F73-9141-0FB28B610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2B1E15F-E66D-4272-9CCF-46F7631CD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83F9-2D46-4C1E-BBE7-7C9270AF5B54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F8A0C0-730B-4F14-B081-5DA70107B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5BDBA2-8754-4D53-B60A-8EFC31CF5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A50C-6B9A-44FF-9DF2-9578C0D0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1836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D6E0CF-3CE5-426D-ADAF-174B809D3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3DA9720-60F9-4093-A645-DA890E742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5362D83-DDE5-4AFF-8BCA-4BBB2E656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9C3EF8A-3A02-4FD0-B19A-2B5EEE0587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BF22D22-3ED1-4817-A977-AB27792995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63AF19E-A5AD-45A9-BA05-D3D01AAFB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83F9-2D46-4C1E-BBE7-7C9270AF5B54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7540AA-BAF1-49B6-8499-6337AB1D9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8097C2-70AF-452B-BDD6-13B69FF05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A50C-6B9A-44FF-9DF2-9578C0D0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2158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D4B54F-54C0-4938-9AFC-94B5AF9F6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EC851B4-FAFC-4BAE-808D-F8264B596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83F9-2D46-4C1E-BBE7-7C9270AF5B54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3E2118F-D5B4-467E-B64C-62219958B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B72A30C-B4A3-42A0-8CBD-7820170E1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A50C-6B9A-44FF-9DF2-9578C0D0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306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992B625-C204-4EEC-BBDF-07AC677A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83F9-2D46-4C1E-BBE7-7C9270AF5B54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930F448-D037-41A6-9381-C8B766184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81199D-17FE-4940-8A70-214469F92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A50C-6B9A-44FF-9DF2-9578C0D0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8713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7C02AD-A9AC-400E-BE42-D5F1CA54B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30A474-7D97-47C8-B008-9AA13C175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FC555F-70D4-4E6D-9C12-A3F2BE26E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BAB774-EEE8-474B-BAAB-04D3B5689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83F9-2D46-4C1E-BBE7-7C9270AF5B54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7D768F-DBEB-4B47-816A-5393BC4BE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2A19E0-0203-492E-B9E7-055F60107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A50C-6B9A-44FF-9DF2-9578C0D0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347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92265-80DA-474B-A105-7A6AA26A9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72665D3-0967-4EC1-A4A0-3C427B4564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D43108-AF2A-44D0-B475-033135D1D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828BD0-5420-4255-ACC4-E089C5D06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83F9-2D46-4C1E-BBE7-7C9270AF5B54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F0D836-24F7-4E2B-9714-943CE5A7A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CBF8BC-8347-4A49-8B34-E7950287D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A50C-6B9A-44FF-9DF2-9578C0D0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055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B54845-0118-4EDE-B47A-922FD1411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366775-08F8-41D9-971D-EBD3BDDCB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471602-6126-4FDF-9B3E-3FB44C75A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83F9-2D46-4C1E-BBE7-7C9270AF5B54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E26370-FCDA-40CE-AD58-045661752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FC6602-8292-4085-8C8D-0BDFC2CB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A50C-6B9A-44FF-9DF2-9578C0D0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072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19E7BCC-9255-45CE-8512-FD4AD05DA3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9478E0E-A680-42A8-99F8-D6BC2ECCF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5DC570-7BBE-498C-A3A5-080D209AF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83F9-2D46-4C1E-BBE7-7C9270AF5B54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B7B3DF-B20B-44C7-BDA5-35DB46CD4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92841E-CF03-4591-9671-A16A95A6D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A50C-6B9A-44FF-9DF2-9578C0D0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865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DE8B1F-586E-40EF-96CB-34E3F809F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89A94B-05B2-4891-BF5A-39B80B9FE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47EA85-B479-4798-AD90-1D1692559A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683F9-2D46-4C1E-BBE7-7C9270AF5B54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05A323-17A0-4EE5-92AA-C2FB085C0B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490317-51B7-4D25-9579-3CB5CFA8E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2A50C-6B9A-44FF-9DF2-9578C0D0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087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Овал 10">
            <a:extLst>
              <a:ext uri="{FF2B5EF4-FFF2-40B4-BE49-F238E27FC236}">
                <a16:creationId xmlns:a16="http://schemas.microsoft.com/office/drawing/2014/main" id="{6BF5B3D4-3EAE-46D1-8A42-E0CE0BEF46F5}"/>
              </a:ext>
            </a:extLst>
          </p:cNvPr>
          <p:cNvSpPr/>
          <p:nvPr/>
        </p:nvSpPr>
        <p:spPr>
          <a:xfrm>
            <a:off x="-1723290" y="486623"/>
            <a:ext cx="5638798" cy="5884753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8A1EE227-4D73-4DFD-BE18-9DDBCBF009CE}"/>
              </a:ext>
            </a:extLst>
          </p:cNvPr>
          <p:cNvSpPr/>
          <p:nvPr/>
        </p:nvSpPr>
        <p:spPr>
          <a:xfrm>
            <a:off x="-2896382" y="-2631440"/>
            <a:ext cx="5262880" cy="5262880"/>
          </a:xfrm>
          <a:custGeom>
            <a:avLst/>
            <a:gdLst>
              <a:gd name="connsiteX0" fmla="*/ 2631440 w 5262880"/>
              <a:gd name="connsiteY0" fmla="*/ 701675 h 5262880"/>
              <a:gd name="connsiteX1" fmla="*/ 701675 w 5262880"/>
              <a:gd name="connsiteY1" fmla="*/ 2631440 h 5262880"/>
              <a:gd name="connsiteX2" fmla="*/ 2631440 w 5262880"/>
              <a:gd name="connsiteY2" fmla="*/ 4561205 h 5262880"/>
              <a:gd name="connsiteX3" fmla="*/ 4561205 w 5262880"/>
              <a:gd name="connsiteY3" fmla="*/ 2631440 h 5262880"/>
              <a:gd name="connsiteX4" fmla="*/ 2631440 w 5262880"/>
              <a:gd name="connsiteY4" fmla="*/ 701675 h 5262880"/>
              <a:gd name="connsiteX5" fmla="*/ 2631440 w 5262880"/>
              <a:gd name="connsiteY5" fmla="*/ 0 h 5262880"/>
              <a:gd name="connsiteX6" fmla="*/ 5262880 w 5262880"/>
              <a:gd name="connsiteY6" fmla="*/ 2631440 h 5262880"/>
              <a:gd name="connsiteX7" fmla="*/ 2631440 w 5262880"/>
              <a:gd name="connsiteY7" fmla="*/ 5262880 h 5262880"/>
              <a:gd name="connsiteX8" fmla="*/ 0 w 5262880"/>
              <a:gd name="connsiteY8" fmla="*/ 2631440 h 5262880"/>
              <a:gd name="connsiteX9" fmla="*/ 2631440 w 5262880"/>
              <a:gd name="connsiteY9" fmla="*/ 0 h 526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62880" h="5262880">
                <a:moveTo>
                  <a:pt x="2631440" y="701675"/>
                </a:moveTo>
                <a:cubicBezTo>
                  <a:pt x="1565660" y="701675"/>
                  <a:pt x="701675" y="1565660"/>
                  <a:pt x="701675" y="2631440"/>
                </a:cubicBezTo>
                <a:cubicBezTo>
                  <a:pt x="701675" y="3697220"/>
                  <a:pt x="1565660" y="4561205"/>
                  <a:pt x="2631440" y="4561205"/>
                </a:cubicBezTo>
                <a:cubicBezTo>
                  <a:pt x="3697220" y="4561205"/>
                  <a:pt x="4561205" y="3697220"/>
                  <a:pt x="4561205" y="2631440"/>
                </a:cubicBezTo>
                <a:cubicBezTo>
                  <a:pt x="4561205" y="1565660"/>
                  <a:pt x="3697220" y="701675"/>
                  <a:pt x="2631440" y="701675"/>
                </a:cubicBezTo>
                <a:close/>
                <a:moveTo>
                  <a:pt x="2631440" y="0"/>
                </a:moveTo>
                <a:cubicBezTo>
                  <a:pt x="4084744" y="0"/>
                  <a:pt x="5262880" y="1178136"/>
                  <a:pt x="5262880" y="2631440"/>
                </a:cubicBezTo>
                <a:cubicBezTo>
                  <a:pt x="5262880" y="4084744"/>
                  <a:pt x="4084744" y="5262880"/>
                  <a:pt x="2631440" y="5262880"/>
                </a:cubicBezTo>
                <a:cubicBezTo>
                  <a:pt x="1178136" y="5262880"/>
                  <a:pt x="0" y="4084744"/>
                  <a:pt x="0" y="2631440"/>
                </a:cubicBezTo>
                <a:cubicBezTo>
                  <a:pt x="0" y="1178136"/>
                  <a:pt x="1178136" y="0"/>
                  <a:pt x="2631440" y="0"/>
                </a:cubicBezTo>
                <a:close/>
              </a:path>
            </a:pathLst>
          </a:custGeom>
          <a:solidFill>
            <a:srgbClr val="FFA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A8836298-0700-4501-A9FB-BC79590AE467}"/>
              </a:ext>
            </a:extLst>
          </p:cNvPr>
          <p:cNvSpPr/>
          <p:nvPr/>
        </p:nvSpPr>
        <p:spPr>
          <a:xfrm>
            <a:off x="9460523" y="4443046"/>
            <a:ext cx="1008184" cy="1008184"/>
          </a:xfrm>
          <a:prstGeom prst="ellipse">
            <a:avLst/>
          </a:prstGeom>
          <a:solidFill>
            <a:srgbClr val="FFA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B46CC504-73FE-415F-8F8F-EF22EE39EA93}"/>
              </a:ext>
            </a:extLst>
          </p:cNvPr>
          <p:cNvSpPr/>
          <p:nvPr/>
        </p:nvSpPr>
        <p:spPr>
          <a:xfrm>
            <a:off x="10140462" y="815609"/>
            <a:ext cx="1500554" cy="150055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1C5B7F0-B91F-4B9E-A626-C897CA4D1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583" y="3338283"/>
            <a:ext cx="1310676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6000" b="1" dirty="0">
                <a:latin typeface="Arial Black" panose="020B0A04020102020204" pitchFamily="34" charset="0"/>
                <a:ea typeface="+mj-ea"/>
                <a:cs typeface="+mj-cs"/>
              </a:rPr>
              <a:t>Маркетинговый анализ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5C4CE9-94CC-4248-8C5F-ED75BE9F8448}"/>
              </a:ext>
            </a:extLst>
          </p:cNvPr>
          <p:cNvSpPr txBox="1"/>
          <p:nvPr/>
        </p:nvSpPr>
        <p:spPr>
          <a:xfrm>
            <a:off x="1425670" y="4261613"/>
            <a:ext cx="87147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Arial Black" panose="020B0A04020102020204" pitchFamily="34" charset="0"/>
                <a:ea typeface="+mj-ea"/>
                <a:cs typeface="+mj-cs"/>
              </a:rPr>
              <a:t>Улучшение конверсии и вовлеченности: кейс розничного интернет-магазина</a:t>
            </a:r>
          </a:p>
        </p:txBody>
      </p:sp>
    </p:spTree>
    <p:extLst>
      <p:ext uri="{BB962C8B-B14F-4D97-AF65-F5344CB8AC3E}">
        <p14:creationId xmlns:p14="http://schemas.microsoft.com/office/powerpoint/2010/main" val="3521185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107E6-85AB-4671-91D8-05340283F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990" y="351067"/>
            <a:ext cx="4660594" cy="964547"/>
          </a:xfrm>
        </p:spPr>
        <p:txBody>
          <a:bodyPr>
            <a:normAutofit fontScale="90000"/>
          </a:bodyPr>
          <a:lstStyle/>
          <a:p>
            <a:r>
              <a:rPr lang="ru-RU" dirty="0">
                <a:effectLst/>
              </a:rPr>
              <a:t>Введение в бизнес-проблему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E512C-89C5-4C17-9672-08D891D82359}"/>
              </a:ext>
            </a:extLst>
          </p:cNvPr>
          <p:cNvSpPr txBox="1"/>
          <p:nvPr/>
        </p:nvSpPr>
        <p:spPr>
          <a:xfrm>
            <a:off x="403411" y="1656273"/>
            <a:ext cx="5692589" cy="4491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Компания Shop, занимающаяся розничной торговлей в Интернете, сталкивается со снижением вовлеченности клиентов и коэффициента конверсии, несмотря на запуск нескольких новых маркетинговых кампаний в Интернете. </a:t>
            </a:r>
          </a:p>
          <a:p>
            <a:pPr algn="just">
              <a:lnSpc>
                <a:spcPct val="150000"/>
              </a:lnSpc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Необходим детальный анализ и определение областей для улучшения маркетинговых стратегий.</a:t>
            </a:r>
          </a:p>
          <a:p>
            <a:pPr algn="just">
              <a:lnSpc>
                <a:spcPct val="150000"/>
              </a:lnSpc>
            </a:pP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моменты: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вовлеченности клиентов: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взаимодействий с клиентами и их вовлеченность в работу с сайтом и маркетинговым контентом снизились.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коэффициента конверсии: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меньше посетителей сайта становятся платежеспособными клиентами.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Высокие затраты на маркетинг: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Значительные инвестиции в маркетинговые кампании не приносят ожидаемой отдачи.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Необходимость анализа отзывов клиентов: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Понимание мнений клиентов о продуктах и услугах имеет решающее значение для повышения вовлеченности и конверсии.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121B74E5-B4F7-4A2E-A9F8-1F19EDBA3064}"/>
              </a:ext>
            </a:extLst>
          </p:cNvPr>
          <p:cNvSpPr/>
          <p:nvPr/>
        </p:nvSpPr>
        <p:spPr>
          <a:xfrm>
            <a:off x="-379602" y="0"/>
            <a:ext cx="1008184" cy="1008184"/>
          </a:xfrm>
          <a:prstGeom prst="ellipse">
            <a:avLst/>
          </a:prstGeom>
          <a:solidFill>
            <a:srgbClr val="FFA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4795AD-FEBA-4A9C-8EC7-6C2A4AFB3F94}"/>
              </a:ext>
            </a:extLst>
          </p:cNvPr>
          <p:cNvSpPr txBox="1"/>
          <p:nvPr/>
        </p:nvSpPr>
        <p:spPr>
          <a:xfrm>
            <a:off x="6610417" y="1656273"/>
            <a:ext cx="4953000" cy="1721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Коэффициент конверсии: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Процент посетителей веб-сайта, совершающих покупку.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Коэффициент вовлеченности клиентов: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взаимодействия с маркетинговым контентом (клики, лайки, комментарии).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 стоимость заказа клиента (AOV)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 оценка по отзывам клиентов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3A5872-63C2-4274-B4E1-D9FCC7B722B8}"/>
              </a:ext>
            </a:extLst>
          </p:cNvPr>
          <p:cNvSpPr txBox="1"/>
          <p:nvPr/>
        </p:nvSpPr>
        <p:spPr>
          <a:xfrm>
            <a:off x="6610417" y="171622"/>
            <a:ext cx="4953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latin typeface="+mj-lt"/>
                <a:ea typeface="+mj-ea"/>
                <a:cs typeface="+mj-cs"/>
              </a:rPr>
              <a:t>Ключевые показатели эффективности (KPI)</a:t>
            </a:r>
          </a:p>
        </p:txBody>
      </p:sp>
    </p:spTree>
    <p:extLst>
      <p:ext uri="{BB962C8B-B14F-4D97-AF65-F5344CB8AC3E}">
        <p14:creationId xmlns:p14="http://schemas.microsoft.com/office/powerpoint/2010/main" val="736907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107E6-85AB-4671-91D8-05340283F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663"/>
            <a:ext cx="10515600" cy="964547"/>
          </a:xfrm>
        </p:spPr>
        <p:txBody>
          <a:bodyPr/>
          <a:lstStyle/>
          <a:p>
            <a:r>
              <a:rPr lang="ru-RU" dirty="0"/>
              <a:t>Цели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E512C-89C5-4C17-9672-08D891D82359}"/>
              </a:ext>
            </a:extLst>
          </p:cNvPr>
          <p:cNvSpPr txBox="1"/>
          <p:nvPr/>
        </p:nvSpPr>
        <p:spPr>
          <a:xfrm>
            <a:off x="838200" y="1231553"/>
            <a:ext cx="10093206" cy="2829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Увеличить коэффициент конверсии: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Выявить факторы, влияющие на коэффициент конверсии, и дать рекомендации по его улучшению.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Выделить ключевые этапы, на которых клиенты уходят, и предложить улучшения для оптимизации воронки конверсий.</a:t>
            </a:r>
          </a:p>
          <a:p>
            <a:pPr algn="just">
              <a:lnSpc>
                <a:spcPct val="150000"/>
              </a:lnSpc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Повысить вовлеченность клиентов: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Определить, какие типы контента обеспечивают максимальную вовлеченность. 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Проанализировать уровень взаимодействия с различными типами маркетингового контента, чтобы разработать более эффективные контент-стратегии.</a:t>
            </a:r>
          </a:p>
          <a:p>
            <a:pPr algn="just">
              <a:lnSpc>
                <a:spcPct val="150000"/>
              </a:lnSpc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Улучшить показатели отзывов клиентов: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Понять общие темы в отзывах клиентов и предоставить информацию.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Выявить повторяющиеся положительные и отрицательные отзывы, которые помогут улучшить продукт и обслуживание.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05F2C3CD-3F0C-4DA9-934B-A2B495E15158}"/>
              </a:ext>
            </a:extLst>
          </p:cNvPr>
          <p:cNvSpPr/>
          <p:nvPr/>
        </p:nvSpPr>
        <p:spPr>
          <a:xfrm>
            <a:off x="-379602" y="0"/>
            <a:ext cx="1008184" cy="1008184"/>
          </a:xfrm>
          <a:prstGeom prst="ellipse">
            <a:avLst/>
          </a:prstGeom>
          <a:solidFill>
            <a:srgbClr val="FFA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8634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0A8E1F3-BBA6-46D2-A4A5-0A457DDD8A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671" y="1284578"/>
            <a:ext cx="7521386" cy="44156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107E6-85AB-4671-91D8-05340283F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582" y="129021"/>
            <a:ext cx="10515600" cy="964547"/>
          </a:xfrm>
        </p:spPr>
        <p:txBody>
          <a:bodyPr/>
          <a:lstStyle/>
          <a:p>
            <a:r>
              <a:rPr lang="ru-RU" dirty="0"/>
              <a:t>Обзор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E512C-89C5-4C17-9672-08D891D82359}"/>
              </a:ext>
            </a:extLst>
          </p:cNvPr>
          <p:cNvSpPr txBox="1"/>
          <p:nvPr/>
        </p:nvSpPr>
        <p:spPr>
          <a:xfrm>
            <a:off x="268943" y="956000"/>
            <a:ext cx="4007222" cy="5599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Коэффициент конверсии: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декабре показатель конверсии значительно вырос до 11.4%, несмотря на резкое снижение до 7.6% в октябре.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Вовлеченность клиентов: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Наблюдается снижение общего уровня вовлеченности в социальных сетях, количество просмотров в течение года уменьшается.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кликов и лайков невелико по сравнению с просмотрами, но процент переходов по ссылке составляет 19.66%, значит, что вовлеченные пользователи по-прежнему эффективно взаимодействуют с контентом.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Оценки клиентов: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Рейтинги товаров не изменяются, составляя в среднем около 3.7 в течение года.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 оценка ниже целевого показателя в 4.0. Необходимо целенаправленное повышение удовлетворенности клиентов.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121B74E5-B4F7-4A2E-A9F8-1F19EDBA3064}"/>
              </a:ext>
            </a:extLst>
          </p:cNvPr>
          <p:cNvSpPr/>
          <p:nvPr/>
        </p:nvSpPr>
        <p:spPr>
          <a:xfrm>
            <a:off x="-379602" y="0"/>
            <a:ext cx="1008184" cy="1008184"/>
          </a:xfrm>
          <a:prstGeom prst="ellipse">
            <a:avLst/>
          </a:prstGeom>
          <a:solidFill>
            <a:srgbClr val="FFA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Oval 12">
            <a:extLst>
              <a:ext uri="{FF2B5EF4-FFF2-40B4-BE49-F238E27FC236}">
                <a16:creationId xmlns:a16="http://schemas.microsoft.com/office/drawing/2014/main" id="{0F670F34-854A-4F72-BD77-90D3F93C5B5F}"/>
              </a:ext>
            </a:extLst>
          </p:cNvPr>
          <p:cNvSpPr/>
          <p:nvPr/>
        </p:nvSpPr>
        <p:spPr>
          <a:xfrm>
            <a:off x="8516469" y="1885361"/>
            <a:ext cx="1024540" cy="92336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524B935D-1678-47BD-ACF8-C2C8C7927553}"/>
              </a:ext>
            </a:extLst>
          </p:cNvPr>
          <p:cNvSpPr/>
          <p:nvPr/>
        </p:nvSpPr>
        <p:spPr>
          <a:xfrm>
            <a:off x="8516469" y="4621764"/>
            <a:ext cx="899033" cy="5947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22A36A44-77B9-4180-9B2D-60C5B002F037}"/>
              </a:ext>
            </a:extLst>
          </p:cNvPr>
          <p:cNvCxnSpPr>
            <a:cxnSpLocks/>
          </p:cNvCxnSpPr>
          <p:nvPr/>
        </p:nvCxnSpPr>
        <p:spPr>
          <a:xfrm>
            <a:off x="10924872" y="3231843"/>
            <a:ext cx="998185" cy="26056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69D6385-8C36-4770-9672-FC3A95E2EDE3}"/>
              </a:ext>
            </a:extLst>
          </p:cNvPr>
          <p:cNvCxnSpPr/>
          <p:nvPr/>
        </p:nvCxnSpPr>
        <p:spPr>
          <a:xfrm>
            <a:off x="8729221" y="3789575"/>
            <a:ext cx="58446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320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>
            <a:extLst>
              <a:ext uri="{FF2B5EF4-FFF2-40B4-BE49-F238E27FC236}">
                <a16:creationId xmlns:a16="http://schemas.microsoft.com/office/drawing/2014/main" id="{1EF6DF93-B8BF-42F4-87AD-2DF96E696F75}"/>
              </a:ext>
            </a:extLst>
          </p:cNvPr>
          <p:cNvSpPr/>
          <p:nvPr/>
        </p:nvSpPr>
        <p:spPr>
          <a:xfrm>
            <a:off x="-379602" y="0"/>
            <a:ext cx="1008184" cy="1008184"/>
          </a:xfrm>
          <a:prstGeom prst="ellipse">
            <a:avLst/>
          </a:prstGeom>
          <a:solidFill>
            <a:srgbClr val="FFA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B9138B3-0902-41F3-B214-CD505EC0DC38}"/>
              </a:ext>
            </a:extLst>
          </p:cNvPr>
          <p:cNvSpPr txBox="1">
            <a:spLocks/>
          </p:cNvSpPr>
          <p:nvPr/>
        </p:nvSpPr>
        <p:spPr>
          <a:xfrm>
            <a:off x="628582" y="129021"/>
            <a:ext cx="10515600" cy="9645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Анализ конверсии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C578B5-407E-4566-B330-465A45199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128" y="1008184"/>
            <a:ext cx="9825744" cy="568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041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2F3C17B-9A4C-4A6D-85C2-2C6F60976F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34" t="38828" r="27902" b="5099"/>
          <a:stretch/>
        </p:blipFill>
        <p:spPr>
          <a:xfrm>
            <a:off x="5409822" y="1678037"/>
            <a:ext cx="6457355" cy="363764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107E6-85AB-4671-91D8-05340283F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582" y="129021"/>
            <a:ext cx="10515600" cy="964547"/>
          </a:xfrm>
        </p:spPr>
        <p:txBody>
          <a:bodyPr/>
          <a:lstStyle/>
          <a:p>
            <a:r>
              <a:rPr lang="ru-RU" dirty="0"/>
              <a:t>Снижение коэффициента конверсии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E512C-89C5-4C17-9672-08D891D82359}"/>
              </a:ext>
            </a:extLst>
          </p:cNvPr>
          <p:cNvSpPr txBox="1"/>
          <p:nvPr/>
        </p:nvSpPr>
        <p:spPr>
          <a:xfrm>
            <a:off x="485147" y="1027906"/>
            <a:ext cx="4671316" cy="5322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Общая тенденция: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течение года показатели конверсии менялись, при этом большее количество товаров успешно конвертировалось в январе и сентябре. То есть, несмотря на наличие сезонного роста продаж отдельных категорий товаров, в остальные месяцы с низкой эффективностью конверсия может быть увеличена за счет.</a:t>
            </a:r>
          </a:p>
          <a:p>
            <a:pPr algn="just">
              <a:lnSpc>
                <a:spcPct val="150000"/>
              </a:lnSpc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Месяц с самой низкой конверсией: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октябре общий коэффициент конверсии был самым низким – 6.1%. Ни один продукт не выделялся значительной конверсией. Необходим потенциальный пересмотр маркетинговых стратегий или рекламных акций в этот период для повышения эффективности.</a:t>
            </a:r>
          </a:p>
          <a:p>
            <a:pPr algn="just">
              <a:lnSpc>
                <a:spcPct val="150000"/>
              </a:lnSpc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Самый высокий показатель конверсии: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январе был зафиксирован самый высокий общий показатель конверсии – 18.5%, в значительной степени благодаря лыжным ботинкам, конверсия которых составила 100%. Это связано с сезонным спросом и эффективными маркетинговыми стратегиями.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05F2C3CD-3F0C-4DA9-934B-A2B495E15158}"/>
              </a:ext>
            </a:extLst>
          </p:cNvPr>
          <p:cNvSpPr/>
          <p:nvPr/>
        </p:nvSpPr>
        <p:spPr>
          <a:xfrm>
            <a:off x="-379602" y="0"/>
            <a:ext cx="1008184" cy="1008184"/>
          </a:xfrm>
          <a:prstGeom prst="ellipse">
            <a:avLst/>
          </a:prstGeom>
          <a:solidFill>
            <a:srgbClr val="FFA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E79606C-2E71-4C06-8E0E-433C719C04D8}"/>
              </a:ext>
            </a:extLst>
          </p:cNvPr>
          <p:cNvSpPr/>
          <p:nvPr/>
        </p:nvSpPr>
        <p:spPr>
          <a:xfrm>
            <a:off x="6398306" y="1678037"/>
            <a:ext cx="511541" cy="3664952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1B31753-5658-4908-99B5-9CD4029ADF8E}"/>
              </a:ext>
            </a:extLst>
          </p:cNvPr>
          <p:cNvSpPr/>
          <p:nvPr/>
        </p:nvSpPr>
        <p:spPr>
          <a:xfrm>
            <a:off x="10099809" y="1683787"/>
            <a:ext cx="420506" cy="36592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5682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>
            <a:extLst>
              <a:ext uri="{FF2B5EF4-FFF2-40B4-BE49-F238E27FC236}">
                <a16:creationId xmlns:a16="http://schemas.microsoft.com/office/drawing/2014/main" id="{1EF6DF93-B8BF-42F4-87AD-2DF96E696F75}"/>
              </a:ext>
            </a:extLst>
          </p:cNvPr>
          <p:cNvSpPr/>
          <p:nvPr/>
        </p:nvSpPr>
        <p:spPr>
          <a:xfrm>
            <a:off x="-379602" y="0"/>
            <a:ext cx="1008184" cy="1008184"/>
          </a:xfrm>
          <a:prstGeom prst="ellipse">
            <a:avLst/>
          </a:prstGeom>
          <a:solidFill>
            <a:srgbClr val="FFA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B9138B3-0902-41F3-B214-CD505EC0DC38}"/>
              </a:ext>
            </a:extLst>
          </p:cNvPr>
          <p:cNvSpPr txBox="1">
            <a:spLocks/>
          </p:cNvSpPr>
          <p:nvPr/>
        </p:nvSpPr>
        <p:spPr>
          <a:xfrm>
            <a:off x="628582" y="129021"/>
            <a:ext cx="10515600" cy="9645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Анализ социальных сетей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E0ACEE-A85C-4E1E-8C3F-15E02BD42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18" y="992328"/>
            <a:ext cx="10142724" cy="58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465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C00FAB1-1D01-47C1-83D8-944410A0A7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38" t="10878" r="35910" b="54867"/>
          <a:stretch/>
        </p:blipFill>
        <p:spPr>
          <a:xfrm>
            <a:off x="6662382" y="1008183"/>
            <a:ext cx="4481800" cy="262270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107E6-85AB-4671-91D8-05340283F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582" y="129021"/>
            <a:ext cx="10515600" cy="964547"/>
          </a:xfrm>
        </p:spPr>
        <p:txBody>
          <a:bodyPr/>
          <a:lstStyle/>
          <a:p>
            <a:r>
              <a:rPr lang="ru-RU" dirty="0"/>
              <a:t>Снижение вовлеченности клиентов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E512C-89C5-4C17-9672-08D891D82359}"/>
              </a:ext>
            </a:extLst>
          </p:cNvPr>
          <p:cNvSpPr txBox="1"/>
          <p:nvPr/>
        </p:nvSpPr>
        <p:spPr>
          <a:xfrm>
            <a:off x="628582" y="1198234"/>
            <a:ext cx="5019183" cy="3937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количества просмотров: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просмотров достигло минимумов в марте и июле, но с августа и далее снижалось, что указывает на уменьшение вовлеченности аудитории во второй половине года.</a:t>
            </a:r>
          </a:p>
          <a:p>
            <a:pPr algn="just">
              <a:lnSpc>
                <a:spcPct val="150000"/>
              </a:lnSpc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Низкий уровень взаимодействия: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кликов и лайков оставалось стабильно низким по сравнению с просмотрами. Необходимо сделать более вовлекающий контент, который вызывал бы больше отклика, реакций и взаимодействия.</a:t>
            </a:r>
          </a:p>
          <a:p>
            <a:pPr algn="just">
              <a:lnSpc>
                <a:spcPct val="150000"/>
              </a:lnSpc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использования типа контента: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начале года наибольшие просмотры собирали видео, следующие несколько месяцев главным был блог, но с сентября все социальные сети стали стабильно превалировать по просмотрам.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05F2C3CD-3F0C-4DA9-934B-A2B495E15158}"/>
              </a:ext>
            </a:extLst>
          </p:cNvPr>
          <p:cNvSpPr/>
          <p:nvPr/>
        </p:nvSpPr>
        <p:spPr>
          <a:xfrm>
            <a:off x="-379602" y="0"/>
            <a:ext cx="1008184" cy="1008184"/>
          </a:xfrm>
          <a:prstGeom prst="ellipse">
            <a:avLst/>
          </a:prstGeom>
          <a:solidFill>
            <a:srgbClr val="FFA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B90421CB-86B0-4BDC-BB25-72C8BDD5E7E5}"/>
              </a:ext>
            </a:extLst>
          </p:cNvPr>
          <p:cNvCxnSpPr>
            <a:cxnSpLocks/>
          </p:cNvCxnSpPr>
          <p:nvPr/>
        </p:nvCxnSpPr>
        <p:spPr>
          <a:xfrm>
            <a:off x="9140897" y="1719225"/>
            <a:ext cx="1493347" cy="4397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FECF073-7023-4370-AF8C-21C07DC43E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55" t="11051" r="2412" b="54256"/>
          <a:stretch/>
        </p:blipFill>
        <p:spPr>
          <a:xfrm>
            <a:off x="6662381" y="3814828"/>
            <a:ext cx="4481799" cy="270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143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>
            <a:extLst>
              <a:ext uri="{FF2B5EF4-FFF2-40B4-BE49-F238E27FC236}">
                <a16:creationId xmlns:a16="http://schemas.microsoft.com/office/drawing/2014/main" id="{1EF6DF93-B8BF-42F4-87AD-2DF96E696F75}"/>
              </a:ext>
            </a:extLst>
          </p:cNvPr>
          <p:cNvSpPr/>
          <p:nvPr/>
        </p:nvSpPr>
        <p:spPr>
          <a:xfrm>
            <a:off x="-379602" y="0"/>
            <a:ext cx="1008184" cy="1008184"/>
          </a:xfrm>
          <a:prstGeom prst="ellipse">
            <a:avLst/>
          </a:prstGeom>
          <a:solidFill>
            <a:srgbClr val="FFA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B9138B3-0902-41F3-B214-CD505EC0DC38}"/>
              </a:ext>
            </a:extLst>
          </p:cNvPr>
          <p:cNvSpPr txBox="1">
            <a:spLocks/>
          </p:cNvSpPr>
          <p:nvPr/>
        </p:nvSpPr>
        <p:spPr>
          <a:xfrm>
            <a:off x="628582" y="129021"/>
            <a:ext cx="10515600" cy="9645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Анализ рейтинга от клиентов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F6904E-5E04-4394-A687-113874DCE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158" y="898989"/>
            <a:ext cx="10081024" cy="582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688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107E6-85AB-4671-91D8-05340283F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582" y="129021"/>
            <a:ext cx="10515600" cy="964547"/>
          </a:xfrm>
        </p:spPr>
        <p:txBody>
          <a:bodyPr/>
          <a:lstStyle/>
          <a:p>
            <a:r>
              <a:rPr lang="ru-RU" dirty="0"/>
              <a:t>Оценки и настроения клиентов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E512C-89C5-4C17-9672-08D891D82359}"/>
              </a:ext>
            </a:extLst>
          </p:cNvPr>
          <p:cNvSpPr txBox="1"/>
          <p:nvPr/>
        </p:nvSpPr>
        <p:spPr>
          <a:xfrm>
            <a:off x="628583" y="1153413"/>
            <a:ext cx="5467418" cy="4491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оценок клиентов: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Большинство отзывов клиентов имеют положительные высокие оценки: 431 отзыв с оценкой в 4 звезды и 409 отзывов с оценкой в 5 звезд. На более низкие оценки приходится меньшая доля: 80 отзывов с оценкой в 1 звезду и 153 отзыва с оценкой в 2 звезды.</a:t>
            </a:r>
          </a:p>
          <a:p>
            <a:pPr algn="just">
              <a:lnSpc>
                <a:spcPct val="150000"/>
              </a:lnSpc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настроений: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Преобладают положительные отзывы (840 отзывов), что отражает общую удовлетворенность клиентов. Негативные настроения в 226 отзывах, при меньшем количестве смешанных и нейтральных.  Есть некоторые области, требующие улучшения.</a:t>
            </a:r>
          </a:p>
          <a:p>
            <a:pPr algn="just">
              <a:lnSpc>
                <a:spcPct val="150000"/>
              </a:lnSpc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Возможности для улучшения: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 смешанных положительных и отрицательных отзывов говорит о том, что существуют возможности преобразовать эти смешанные впечатления в более позитивные, что потенциально может повысить общий рейтинг. Решение конкретных проблем в смешанных отзывах может повысить удовлетворенность клиентов.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05F2C3CD-3F0C-4DA9-934B-A2B495E15158}"/>
              </a:ext>
            </a:extLst>
          </p:cNvPr>
          <p:cNvSpPr/>
          <p:nvPr/>
        </p:nvSpPr>
        <p:spPr>
          <a:xfrm>
            <a:off x="-379602" y="0"/>
            <a:ext cx="1008184" cy="1008184"/>
          </a:xfrm>
          <a:prstGeom prst="ellipse">
            <a:avLst/>
          </a:prstGeom>
          <a:solidFill>
            <a:srgbClr val="FFA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C36CEB5-06EF-4507-B5FC-59F2FFD420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65" t="11951" r="68563" b="62523"/>
          <a:stretch/>
        </p:blipFill>
        <p:spPr>
          <a:xfrm>
            <a:off x="7548056" y="1008184"/>
            <a:ext cx="2823116" cy="254546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118991C-22DE-4F03-8A8B-F6B386E8D3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83" t="11490" r="42250" b="62523"/>
          <a:stretch/>
        </p:blipFill>
        <p:spPr>
          <a:xfrm>
            <a:off x="7084664" y="3867427"/>
            <a:ext cx="4059518" cy="234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78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107E6-85AB-4671-91D8-05340283F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064" y="178107"/>
            <a:ext cx="10515600" cy="964547"/>
          </a:xfrm>
        </p:spPr>
        <p:txBody>
          <a:bodyPr/>
          <a:lstStyle/>
          <a:p>
            <a:r>
              <a:rPr lang="ru-RU" dirty="0"/>
              <a:t>Действия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05F2C3CD-3F0C-4DA9-934B-A2B495E15158}"/>
              </a:ext>
            </a:extLst>
          </p:cNvPr>
          <p:cNvSpPr/>
          <p:nvPr/>
        </p:nvSpPr>
        <p:spPr>
          <a:xfrm>
            <a:off x="-379602" y="0"/>
            <a:ext cx="1008184" cy="1008184"/>
          </a:xfrm>
          <a:prstGeom prst="ellipse">
            <a:avLst/>
          </a:prstGeom>
          <a:solidFill>
            <a:srgbClr val="FFA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E709C1-17CD-4503-B0B4-EABFC4A7F239}"/>
              </a:ext>
            </a:extLst>
          </p:cNvPr>
          <p:cNvSpPr txBox="1"/>
          <p:nvPr/>
        </p:nvSpPr>
        <p:spPr>
          <a:xfrm>
            <a:off x="1014064" y="1310787"/>
            <a:ext cx="10515600" cy="367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Увеличить коэффициент конверсии: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Сосредоточить маркетинговые усилия на товарах с высокими показателями конверсии,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таких как хоккейная клюшка, лыжные ботинки и бейсбольные перчатки. Проводить сезонные рекламные акции или индивидуальные кампании в пиковые месяцы (например, в январе и сентябре), чтобы извлечь выгоду из этих тенденций.</a:t>
            </a:r>
          </a:p>
          <a:p>
            <a:pPr algn="just">
              <a:lnSpc>
                <a:spcPct val="150000"/>
              </a:lnSpc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Повысить уровня вовлеченности клиентов: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Обновить контент-стратегию,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избежать снижения количества просмотров и низкого уровня взаимодействия. Провести тесты с более привлекательными форматами контента, такими как интерактивные видео или контент, созданный пользователями. Кроме того, оптимизировать вовлекающий контент, который вызывал бы больше отклика в социальных сетях и блоге, особенно в месяцы с низким уровнем вовлеченности (апрель, май, август).</a:t>
            </a:r>
          </a:p>
          <a:p>
            <a:pPr algn="just">
              <a:lnSpc>
                <a:spcPct val="150000"/>
              </a:lnSpc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Улучшить показатели отзывов клиентов: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со смешанными и отрицательными отзывами: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обратную связь, в рамках которой будут анализироваться смешанные и отрицательные отзывы для выявления проблем. Разработать план для решения этих проблем. Рассмотреть возможность взаимодействия с неудовлетворенными клиентами для решения проблем и переоценки, чтобы приблизить средний рейтинг к целевому показателю 4.0.</a:t>
            </a:r>
          </a:p>
        </p:txBody>
      </p:sp>
    </p:spTree>
    <p:extLst>
      <p:ext uri="{BB962C8B-B14F-4D97-AF65-F5344CB8AC3E}">
        <p14:creationId xmlns:p14="http://schemas.microsoft.com/office/powerpoint/2010/main" val="33727241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925</Words>
  <Application>Microsoft Office PowerPoint</Application>
  <PresentationFormat>Широкоэкранный</PresentationFormat>
  <Paragraphs>66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Times New Roman</vt:lpstr>
      <vt:lpstr>Тема Office</vt:lpstr>
      <vt:lpstr>Презентация PowerPoint</vt:lpstr>
      <vt:lpstr>Введение в бизнес-проблему</vt:lpstr>
      <vt:lpstr>Цели</vt:lpstr>
      <vt:lpstr>Обзор</vt:lpstr>
      <vt:lpstr>Презентация PowerPoint</vt:lpstr>
      <vt:lpstr>Снижение коэффициента конверсии</vt:lpstr>
      <vt:lpstr>Презентация PowerPoint</vt:lpstr>
      <vt:lpstr>Снижение вовлеченности клиентов</vt:lpstr>
      <vt:lpstr>Презентация PowerPoint</vt:lpstr>
      <vt:lpstr>Оценки и настроения клиентов</vt:lpstr>
      <vt:lpstr>Действия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Курочкина</dc:creator>
  <cp:lastModifiedBy>Анастасия Курочкина</cp:lastModifiedBy>
  <cp:revision>30</cp:revision>
  <dcterms:created xsi:type="dcterms:W3CDTF">2025-04-19T18:18:49Z</dcterms:created>
  <dcterms:modified xsi:type="dcterms:W3CDTF">2026-02-12T13:16:01Z</dcterms:modified>
</cp:coreProperties>
</file>